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031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BOB CHALLENGE  ·  SALES TRACK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Scout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 Content Optimization &amp; Utility Tool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federated-provenance knowledge graph that turns scattered CRM, Passport Advantage, w3 and partner data into proactive seller intelligence.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with IBM Bob  ·  Powered by watsonx.ai Granite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seller, five disconnected systems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IBM seller's context is fractured across Salesforce, Passport Advantage, the w3 directory, Seismic and partner (IFC) systems. To prep a single account a seller manually stitches together install base, renewal and end-of-support dates, org and PO contacts, whitespace and partner coverage.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research is slow, inconsistent between sellers, and goes stale the moment it is written down. Renewals lapse, whitespace goes unworked, and modernization plays are missed  -  not for lack of pipeline, but for lack of a single trustworthy view.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0" y="1828800"/>
            <a:ext cx="3566160" cy="4023360"/>
          </a:xfrm>
          <a:prstGeom prst="rect">
            <a:avLst/>
          </a:prstGeom>
          <a:solidFill>
            <a:srgbClr val="F4F7FD"/>
          </a:solidFill>
          <a:ln w="12700">
            <a:solidFill>
              <a:srgbClr val="C6D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Stitched by hand, today: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269748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Salesforce CRM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Passport Advantage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w3 Bluepages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Seismic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Partner / IFC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Scout  ·  watsonx / IBM Bob Challenge Submission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6382512"/>
            <a:ext cx="109087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living graph with provenance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Scout models every seller relationship, account, site number, install, opportunity, partner and knowledge asset as a live graph. Every fact carries W3C PROV-DM provenance  -  source system, confidence, TTL, last-verified. A pruning agent flags stale data before it misleads anyone, and sellers confirm or correct facts through human write-back, so data quality is a shared, decentralized responsibility.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5120640" cy="54864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graph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Shared org intelligence: People, Accounts &amp; Sites, Products &amp; Installs, Pipeline, Partners, Knowledge  -  all orbiting one IBM Enterprise Context hub with natural-language search.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28232" y="356616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28232" y="3566160"/>
            <a:ext cx="5120640" cy="54864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02552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graph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02552" y="4251960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Scoped to the signed-in seller: My Book, Next Best Actions, Renewals &amp; EOS, Co-sell network, Quota goals, and writing style for auto-drafted emails.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Scout  ·  watsonx / IBM Bob Challenge Submission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6382512"/>
            <a:ext cx="109087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USES IT &amp; HOW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for the seller and the leader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Sellers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 “what are my next best actions today?” or “does Louisiana have Cognos on all its sites?” Get an answer, a call-prep Account 360, and a one-click Why-Modernize email in seconds.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28232" y="1920240"/>
            <a:ext cx="512064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28232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Managers &amp; leadership (FLM </a:t>
            </a:r>
            <a:r>
              <a:rPr lang="en-US" sz="2000" b="1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 TSL/ </a:t>
            </a:r>
            <a:r>
              <a:rPr lang="en-US" sz="2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28232" y="26517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 a territory health scorecard, whitespace across the org, and a weekly book digest  -  all scoped by role via the “View As” entitlement system.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Scout  ·  watsonx / IBM Bob Challenge Submission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6382512"/>
            <a:ext cx="109087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ANTICIPATED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changes for the business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51760" cy="3108960"/>
          </a:xfrm>
          <a:prstGeom prst="rect">
            <a:avLst/>
          </a:prstGeom>
          <a:solidFill>
            <a:srgbClr val="F4F7FD"/>
          </a:solidFill>
          <a:ln w="12700">
            <a:solidFill>
              <a:srgbClr val="C6D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651760" cy="54864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~5 hrs / seller / week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33832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Returned from manual research to active selling.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10712" y="2103120"/>
            <a:ext cx="2651760" cy="3108960"/>
          </a:xfrm>
          <a:prstGeom prst="rect">
            <a:avLst/>
          </a:prstGeom>
          <a:solidFill>
            <a:srgbClr val="F4F7FD"/>
          </a:solidFill>
          <a:ln w="12700">
            <a:solidFill>
              <a:srgbClr val="C6D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10712" y="2103120"/>
            <a:ext cx="2651760" cy="54864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surfaced early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11880" y="33832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Renewal and end-of-support risk shown automatically, not discovered late.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1344" y="2103120"/>
            <a:ext cx="2651760" cy="3108960"/>
          </a:xfrm>
          <a:prstGeom prst="rect">
            <a:avLst/>
          </a:prstGeom>
          <a:solidFill>
            <a:srgbClr val="F4F7FD"/>
          </a:solidFill>
          <a:ln w="12700">
            <a:solidFill>
              <a:srgbClr val="C6D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81344" y="2103120"/>
            <a:ext cx="2651760" cy="54864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Trusted answers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82512" y="33832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Consistent, provenance-backed answers every seller can trust and explain.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51976" y="2103120"/>
            <a:ext cx="2651760" cy="3108960"/>
          </a:xfrm>
          <a:prstGeom prst="rect">
            <a:avLst/>
          </a:prstGeom>
          <a:solidFill>
            <a:srgbClr val="F4F7FD"/>
          </a:solidFill>
          <a:ln w="12700">
            <a:solidFill>
              <a:srgbClr val="C6D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951976" y="2103120"/>
            <a:ext cx="2651760" cy="54864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53144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made visible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53144" y="33832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Whitespace and modernization made actionable per book of business.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Scout  ·  watsonx / IBM Bob Challenge Submission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6382512"/>
            <a:ext cx="109087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B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with Bob, powered by watsonx</a:t>
            </a:r>
            <a:endParaRPr lang="en-US" sz="4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IBM BOB WAS USED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 team - the whole platform built in conversation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6888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Scaffold the architecture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 backend, the graph schema (10 node types, 12 relationship types) and a zero-dependency front end, all from plain-language requirements.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10712" y="2011680"/>
            <a:ext cx="246888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10712" y="21488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three agents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10712" y="306324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Ingestion agent (provenance stamping), pruning agent (TTL staleness), and search agent (natural-language to Cypher with a query trace).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81344" y="2011680"/>
            <a:ext cx="246888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81344" y="21488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the intelligence layer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181344" y="306324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Best Actions, whitespace, territory health, Account 360, co-sell match, conflict detection and human write-back.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951976" y="2011680"/>
            <a:ext cx="246888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51976" y="21488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Iterate on UX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951976" y="306324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two-graph enterprise/personal layout, role scoping, and export - all produced and polished with Bob across checkpoints.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Scout  ·  watsonx / IBM Bob Challenge Submission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6382512"/>
            <a:ext cx="109087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the pieces connect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1965960" cy="1737360"/>
          </a:xfrm>
          <a:prstGeom prst="rect">
            <a:avLst/>
          </a:prstGeom>
          <a:solidFill>
            <a:srgbClr val="F4F7FD"/>
          </a:solidFill>
          <a:ln w="12700">
            <a:solidFill>
              <a:srgbClr val="C6D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310896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3703320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Salesforce, PA, w3, Seismic, IFC + human write-back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87752" y="34747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8D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62072" y="2926080"/>
            <a:ext cx="1965960" cy="1737360"/>
          </a:xfrm>
          <a:prstGeom prst="rect">
            <a:avLst/>
          </a:prstGeom>
          <a:solidFill>
            <a:srgbClr val="F4F7FD"/>
          </a:solidFill>
          <a:ln w="12700">
            <a:solidFill>
              <a:srgbClr val="C6D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71800" y="310896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Ingestion Agent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71800" y="3703320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Validates &amp; stamps PROV-DM provenance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09744" y="34747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8D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84064" y="2926080"/>
            <a:ext cx="1965960" cy="173736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310896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Knowledge Graph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93792" y="3703320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DBE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Neo4j / mock, pruning agent keeps it fresh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31736" y="34747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8D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06056" y="2926080"/>
            <a:ext cx="1965960" cy="1737360"/>
          </a:xfrm>
          <a:prstGeom prst="rect">
            <a:avLst/>
          </a:prstGeom>
          <a:solidFill>
            <a:srgbClr val="F4F7FD"/>
          </a:solidFill>
          <a:ln w="12700">
            <a:solidFill>
              <a:srgbClr val="C6D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15784" y="310896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Granite Search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15784" y="3703320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NL to Cypher to narrative + trace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53728" y="34747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8D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28048" y="2926080"/>
            <a:ext cx="1965960" cy="1737360"/>
          </a:xfrm>
          <a:prstGeom prst="rect">
            <a:avLst/>
          </a:prstGeom>
          <a:solidFill>
            <a:srgbClr val="F4F7FD"/>
          </a:solidFill>
          <a:ln w="12700">
            <a:solidFill>
              <a:srgbClr val="C6D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37776" y="310896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Seller &amp; Leader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37776" y="3703320"/>
            <a:ext cx="17465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NBA, 360, digest, email, Orchestrate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answer is explainable: model ID, generated Cypher, confidence, and the exact graph edges used are shown by default  -  responsible-AI transparency built in.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Scout  ·  watsonx / IBM Bob Challenge Submission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6382512"/>
            <a:ext cx="109087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WATSONX.AI GRANITE POWERS 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 in, seller intelligence 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Natural-language search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Granite interprets a seller's question, the app routes it to intent-specific Cypher, and Granite synthesizes a plain-language narrative answer.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172200" y="19659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Why-Modernize email drafting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72200" y="237744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Granite writes a tailored renewal/upgrade email from the install, renewal date, upgrade path and PO contact.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Explainability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answer shows the model ID, generated Cypher, confidence and the exact edges used.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72200" y="38862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watsonx Orchestrate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72200" y="429768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Scout tools are exposed as an Orchestrate skill so sellers can ask from inside their existing assistant.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Scout  ·  watsonx / IBM Bob Challenge Submission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6382512"/>
            <a:ext cx="109087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IS DIFFERENTIATED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a dashboard - a living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 seller tools are static dashboards. </a:t>
            </a:r>
            <a:r>
              <a:rPr lang="en-US" sz="19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Scout is a living, agent-maintained graph with provenance and human validation</a:t>
            </a:r>
            <a:r>
              <a:rPr lang="en-US" sz="19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at its core, so answers are current and explainable. It unifies five disconnected IBM systems into one natural-language surface, and it works today in a zero-dependency demo mode  -  then plugs into live Neo4j and watsonx.ai with only credentials, no rebuild.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0881360" cy="1280160"/>
          </a:xfrm>
          <a:prstGeom prst="rect">
            <a:avLst/>
          </a:prstGeom>
          <a:solidFill>
            <a:srgbClr val="F4F7FD"/>
          </a:solidFill>
          <a:ln w="12700">
            <a:solidFill>
              <a:srgbClr val="C6D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73152" cy="128016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48463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Practicality:  </a:t>
            </a: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because it was built entirely with IBM Bob, the incremental build cost was near zero and new capabilities ship in a conversation, not a sprint. The same Bob workflow lets any seller team extend it to their own motions.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Scout  ·  watsonx / IBM Bob Challenge Submission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6382512"/>
            <a:ext cx="109087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B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Productivity impact &amp; ROI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Quantified, conservative, scalable</a:t>
            </a:r>
            <a:endParaRPr lang="en-US" sz="4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RECLAIMED PER SELLER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Mapped to the challenge's Solution Impact fields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Assumptions: 10-seller pilot, 46 productive weeks/year, illustrative fully-loaded seller cost $75/hour. Estimates are deliberately conservative.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881360" cy="914400"/>
        </p:xfrm>
        <a:graphic>
          <a:graphicData uri="http://schemas.openxmlformats.org/drawingml/2006/table">
            <a:tbl>
              <a:tblPr/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Repeatable task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Freq / wk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Before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After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Saved / wk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Pre-call account research (Account 360)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4×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45 min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 min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2.6 hrs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Weekly book review: renewals, whitespace, NBA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1×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90 min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 min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1.3 hrs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Modernize / follow-up email drafting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3×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 min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min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 hrs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Ad-hoc org, install &amp; partner lookups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5×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 min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 min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 hrs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 per seller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50" dirty="0"/>
                    </a:p>
                  </a:txBody>
                  <a:tcPr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50" dirty="0"/>
                    </a:p>
                  </a:txBody>
                  <a:tcPr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50" dirty="0"/>
                    </a:p>
                  </a:txBody>
                  <a:tcPr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5.3 hrs / wk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Scout  ·  watsonx / IBM Bob Challenge Submission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6382512"/>
            <a:ext cx="109087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Conservative today, linear at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51760" cy="2103120"/>
          </a:xfrm>
          <a:prstGeom prst="rect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4864" cy="210312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5.3 hrs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reclaimed per seller / week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10712" y="2286000"/>
            <a:ext cx="2651760" cy="2103120"/>
          </a:xfrm>
          <a:prstGeom prst="rect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10712" y="2286000"/>
            <a:ext cx="54864" cy="210312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93592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~243 hrs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3593592" y="34290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 seller / year (≈6 selling weeks)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81344" y="2286000"/>
            <a:ext cx="2651760" cy="2103120"/>
          </a:xfrm>
          <a:prstGeom prst="rect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81344" y="2286000"/>
            <a:ext cx="54864" cy="210312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64224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2,430 hrs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6364224" y="34290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10-seller pilot / year (≈1.3 FTE)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51976" y="2286000"/>
            <a:ext cx="2651760" cy="2103120"/>
          </a:xfrm>
          <a:prstGeom prst="rect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951976" y="2286000"/>
            <a:ext cx="54864" cy="210312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34856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~$182K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9134856" y="34290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reclaimed capacity / year (pilot)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7548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Applied across 1,000 sellers, the model returns roughly </a:t>
            </a:r>
            <a:r>
              <a:rPr lang="en-US" sz="16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243,000 hours/year - about 130 FTE-years</a:t>
            </a: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of selling capacity. Because the platform is built and extended entirely through IBM Bob, incremental delivery cost stays minimal, so payback is effectively immediate.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Scout  ·  watsonx / IBM Bob Challenge Submission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6382512"/>
            <a:ext cx="109087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REVENUE PROTECTION &amp; WHY IT WINS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Beyond hours saved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Beyond time saved, IBM Scout consolidates </a:t>
            </a:r>
            <a:r>
              <a:rPr lang="en-US" sz="16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$3.2M in modernize and at-risk renewal pipeline in the demo book alone</a:t>
            </a: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-  value previously scattered across four systems and easy to miss. Protecting or accelerating even 10% represents </a:t>
            </a:r>
            <a:r>
              <a:rPr lang="en-US" sz="16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~$320K of influenced pipeline per book.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51206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Near-term roadmap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Persist write-back &amp; conflicts to a live store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NL alert subscriptions (“tell me when...”)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Slate embeddings for lookalike whitespace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Salesforce / PA / w3 / IFC sync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28232" y="3291840"/>
            <a:ext cx="51206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02552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wins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02552" y="402336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Practical: works today, near-zero build cost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Effective: ~5 hrs/week, repeatable daily use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Usable: ask in plain language, role-scoped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Innovative: living, provenance-backed graph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Scout  ·  watsonx / IBM Bob Challenge Submission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6382512"/>
            <a:ext cx="109087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Scout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 Content Optimization &amp; Utility Tool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with IBM Bob  ·  Powered by watsonx.ai Granite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1396</Words>
  <Application>Microsoft Office PowerPoint</Application>
  <PresentationFormat>Custom</PresentationFormat>
  <Paragraphs>177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Mitchell Kjeldgaard</cp:lastModifiedBy>
  <cp:revision>2</cp:revision>
  <dcterms:created xsi:type="dcterms:W3CDTF">2026-07-11T17:42:51Z</dcterms:created>
  <dcterms:modified xsi:type="dcterms:W3CDTF">2026-07-13T19:14:52Z</dcterms:modified>
</cp:coreProperties>
</file>